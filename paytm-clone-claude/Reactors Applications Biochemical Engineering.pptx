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274320"/>
            <a:ext cx="2011680" cy="2011680"/>
          </a:xfrm>
          <a:prstGeom prst="ellipse">
            <a:avLst/>
          </a:prstGeom>
          <a:solidFill>
            <a:srgbClr val="00A896">
              <a:alpha val="20000"/>
            </a:srgbClr>
          </a:solidFill>
          <a:ln w="1905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914400"/>
            <a:ext cx="1280160" cy="1280160"/>
          </a:xfrm>
          <a:prstGeom prst="ellipse">
            <a:avLst/>
          </a:prstGeom>
          <a:solidFill>
            <a:srgbClr val="00A896">
              <a:alpha val="15000"/>
            </a:srgbClr>
          </a:solidFill>
          <a:ln w="1905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1097280"/>
            <a:ext cx="822960" cy="822960"/>
          </a:xfrm>
          <a:prstGeom prst="ellipse">
            <a:avLst/>
          </a:prstGeom>
          <a:solidFill>
            <a:srgbClr val="00A896">
              <a:alpha val="15000"/>
            </a:srgbClr>
          </a:solidFill>
          <a:ln w="1905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00A896">
              <a:alpha val="15000"/>
            </a:srgbClr>
          </a:solidFill>
          <a:ln w="1905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572000"/>
            <a:ext cx="1097280" cy="1097280"/>
          </a:xfrm>
          <a:prstGeom prst="ellipse">
            <a:avLst/>
          </a:prstGeom>
          <a:solidFill>
            <a:srgbClr val="00A896">
              <a:alpha val="12000"/>
            </a:srgbClr>
          </a:solidFill>
          <a:ln w="1905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423160"/>
            <a:ext cx="59436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 2101  ·  Bioprocess Engineering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3716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Reactors &amp;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" y="19659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in Biochemical Engineering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576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Bioreactor Types  ·  Growth Kinetics  ·  Sterilization  ·  Scale-Up  ·  Control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Biotechnology  |  1st Year  |  Unit 4 Focus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Bioreactor Types &amp; Configurations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55448" y="1161288"/>
            <a:ext cx="2788920" cy="3566160"/>
          </a:xfrm>
          <a:prstGeom prst="rect">
            <a:avLst/>
          </a:prstGeom>
          <a:solidFill>
            <a:srgbClr val="C8E6E6">
              <a:alpha val="60000"/>
            </a:srgbClr>
          </a:solidFill>
          <a:ln w="12700">
            <a:solidFill>
              <a:srgbClr val="C8E6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" y="109728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" y="1097280"/>
            <a:ext cx="278892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" y="1234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  Stirred Tank Reactor (STR)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" y="1691640"/>
            <a:ext cx="2514600" cy="22860"/>
          </a:xfrm>
          <a:prstGeom prst="rect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" y="1783080"/>
            <a:ext cx="256946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widely used bioreactor in industry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agitation ensures homogeneous mixing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aerobic &amp; anaerobic fermentations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Operated in batch, fed-batch, or continuous mode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35808" y="1161288"/>
            <a:ext cx="2788920" cy="3566160"/>
          </a:xfrm>
          <a:prstGeom prst="rect">
            <a:avLst/>
          </a:prstGeom>
          <a:solidFill>
            <a:srgbClr val="C8E6E6">
              <a:alpha val="60000"/>
            </a:srgbClr>
          </a:solidFill>
          <a:ln w="12700">
            <a:solidFill>
              <a:srgbClr val="C8E6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90088" y="109728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90088" y="1097280"/>
            <a:ext cx="278892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1234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🫧  Airlift &amp; Bubble Column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27248" y="1691640"/>
            <a:ext cx="2514600" cy="22860"/>
          </a:xfrm>
          <a:prstGeom prst="rect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9816" y="1783080"/>
            <a:ext cx="256946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Pneumatic mixing — no mechanical impeller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Airlift: riser + downcomer for directed flow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column: simple, low shear for shear-sensitive cells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algae culture, wastewater treatment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16168" y="1161288"/>
            <a:ext cx="2788920" cy="3566160"/>
          </a:xfrm>
          <a:prstGeom prst="rect">
            <a:avLst/>
          </a:prstGeom>
          <a:solidFill>
            <a:srgbClr val="C8E6E6">
              <a:alpha val="60000"/>
            </a:srgbClr>
          </a:solidFill>
          <a:ln w="12700">
            <a:solidFill>
              <a:srgbClr val="C8E6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70448" y="109728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70448" y="1097280"/>
            <a:ext cx="278892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07608" y="1234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CSTR &amp; Fed-Batch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07608" y="1691640"/>
            <a:ext cx="2514600" cy="22860"/>
          </a:xfrm>
          <a:prstGeom prst="rect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0176" y="1783080"/>
            <a:ext cx="256946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CSTR: continuous feed + withdrawal at steady state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 rate D = F/V controls growth rate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Fed-batch: extends exponential phase, avoids catabolite repression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 antibiotic &amp; recombinant protein production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5  ·  Reactors &amp; Applications in Biochemical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3200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Kinetics of Growth, Substrate Utilization &amp; Product Formation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051560"/>
            <a:ext cx="41148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Reactor Kinetic Equations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Monod Equation: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56232"/>
            <a:ext cx="3749040" cy="292608"/>
          </a:xfrm>
          <a:prstGeom prst="rect">
            <a:avLst/>
          </a:prstGeom>
          <a:solidFill>
            <a:srgbClr val="EAF4F4"/>
          </a:solidFill>
          <a:ln w="12700">
            <a:solidFill>
              <a:srgbClr val="C5E0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74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 = μmax · [S] / (Ks + [S])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2860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Reactor (no flow):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3749040" cy="292608"/>
          </a:xfrm>
          <a:prstGeom prst="rect">
            <a:avLst/>
          </a:prstGeom>
          <a:solidFill>
            <a:srgbClr val="EAF4F4"/>
          </a:solidFill>
          <a:ln w="12700">
            <a:solidFill>
              <a:srgbClr val="C5E0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32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dX/dt = μ · 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9443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CSTR Balance: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72968"/>
            <a:ext cx="3749040" cy="292608"/>
          </a:xfrm>
          <a:prstGeom prst="rect">
            <a:avLst/>
          </a:prstGeom>
          <a:solidFill>
            <a:srgbClr val="EAF4F4"/>
          </a:solidFill>
          <a:ln w="12700">
            <a:solidFill>
              <a:srgbClr val="C5E0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912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D·(S₀−S) = μ·X / YX/S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6027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Productivity: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31336"/>
            <a:ext cx="3749040" cy="292608"/>
          </a:xfrm>
          <a:prstGeom prst="rect">
            <a:avLst/>
          </a:prstGeom>
          <a:solidFill>
            <a:srgbClr val="EAF4F4"/>
          </a:solidFill>
          <a:ln w="12700">
            <a:solidFill>
              <a:srgbClr val="C5E0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496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D · X  (CSTR at steady state)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1051560"/>
            <a:ext cx="44348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1051560"/>
            <a:ext cx="44348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Reactor Applications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16002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Reactor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84708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system — substrate added at start. Growth follows classic sigmoid curve. Simple but low productivity per unit time.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2377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Fed-Batch Reactor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262432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fed continuously, no withdrawal. Extends exponential phase. Used for penicillin, baker's yeast, insulin production.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63440" y="3154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CSTR / Chemostat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340156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operation. μ = D (dilution rate). Highest volumetric productivity. Used for SCP and ethanol fermentation.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63440" y="3931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Plasmid Instability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417880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Recombinant strains can lose plasmids under continuous operation — selection pressure or antibiotic addition needed.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5  ·  Reactors &amp; Applications in Biochemical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3 &amp;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3200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Sterilization  ·  Bioreactor Design  ·  Scale-Up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051560"/>
            <a:ext cx="41148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Sterilization for Bioreactors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death kinetics: N = N₀ · e^(−k·t)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k increases with temperature (Arrhenius law)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factor (∇): ∇ = ln(N₀/N) — design criterion for sterilisation cycles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In-situ steam sterilization: 121°C, 15 psi — standard for STRs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sterilization (HTST): less nutrient destruction, preferred at industrial scale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sterilization: absolute filters (0.2 μm HEPA) for sparger air supply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sterilization steps must be validated before reactor inoculation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1051560"/>
            <a:ext cx="44348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051560"/>
            <a:ext cx="44348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Scale-Up Strategies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600200"/>
            <a:ext cx="1965960" cy="1261872"/>
          </a:xfrm>
          <a:prstGeom prst="rect">
            <a:avLst/>
          </a:prstGeom>
          <a:solidFill>
            <a:srgbClr val="EAF4F4"/>
          </a:solidFill>
          <a:ln w="12700">
            <a:solidFill>
              <a:srgbClr val="C5E0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600200"/>
            <a:ext cx="19659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691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kLa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9842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oxygen transfer coefficient — most critical for aerobic processes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66560" y="1600200"/>
            <a:ext cx="1965960" cy="1261872"/>
          </a:xfrm>
          <a:prstGeom prst="rect">
            <a:avLst/>
          </a:prstGeom>
          <a:solidFill>
            <a:srgbClr val="EAF4F4"/>
          </a:solidFill>
          <a:ln w="12700">
            <a:solidFill>
              <a:srgbClr val="C5E0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1600200"/>
            <a:ext cx="19659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691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P/V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198424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power input per unit volume ensures similar mixing intensity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1965960" cy="1261872"/>
          </a:xfrm>
          <a:prstGeom prst="rect">
            <a:avLst/>
          </a:prstGeom>
          <a:solidFill>
            <a:srgbClr val="EAF4F4"/>
          </a:solidFill>
          <a:ln w="12700">
            <a:solidFill>
              <a:srgbClr val="C5E0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017520"/>
            <a:ext cx="19659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108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Similarity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40156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H/D ratios and impeller geometry consistent across scales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66560" y="3017520"/>
            <a:ext cx="1965960" cy="1261872"/>
          </a:xfrm>
          <a:prstGeom prst="rect">
            <a:avLst/>
          </a:prstGeom>
          <a:solidFill>
            <a:srgbClr val="EAF4F4"/>
          </a:solidFill>
          <a:ln w="12700">
            <a:solidFill>
              <a:srgbClr val="C5E0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3017520"/>
            <a:ext cx="19659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108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340156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Reynolds number preserves fluid flow pattern and turbulence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5  ·  Reactors &amp; Applications in Biochemical 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1828800"/>
            <a:ext cx="1828800" cy="1828800"/>
          </a:xfrm>
          <a:prstGeom prst="ellipse">
            <a:avLst/>
          </a:prstGeom>
          <a:solidFill>
            <a:srgbClr val="00A896">
              <a:alpha val="1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00A896">
              <a:alpha val="1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 ·  SUMMARY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Instrumentation, Control &amp; Reactor Applications Summary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8503920" cy="36576"/>
          </a:xfrm>
          <a:prstGeom prst="rect">
            <a:avLst/>
          </a:prstGeom>
          <a:solidFill>
            <a:srgbClr val="00A896">
              <a:alpha val="6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Reactor Instrumentation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572768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variables: pH, DO, temperature, agitation, foam level, CO₂ off-gas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Sensors: pH electrodes, polarographic DO probes, online turbidity meters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controllers: auto-regulate temperature, pH and dissolved oxygen setpoints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/ DCS systems: real-time data logging and process visualisation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143000"/>
            <a:ext cx="36576" cy="2651760"/>
          </a:xfrm>
          <a:prstGeom prst="rect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Course Units at a Glance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572768"/>
          <a:ext cx="4206240" cy="214884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D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D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A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A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Microbial Process Principles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A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A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Kinetics of Growth &amp; Product Formation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A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A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Sterilization Principles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A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A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Bioreactor Design &amp; Reactor Applications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A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AF4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Instrumentation &amp;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20040" y="3931920"/>
            <a:ext cx="8503920" cy="868680"/>
          </a:xfrm>
          <a:prstGeom prst="rect">
            <a:avLst/>
          </a:prstGeom>
          <a:solidFill>
            <a:srgbClr val="00A896">
              <a:alpha val="18000"/>
            </a:srgbClr>
          </a:solidFill>
          <a:ln w="15240">
            <a:solidFill>
              <a:srgbClr val="00A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Takeaway: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42611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Bioreactors are the core of biochemical engineering — choosing the right reactor type, controlling its environment precisely, and scaling it up reliably determines whether a bioprocess is scientifically sound and industrially viable.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919472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Biotechnology — Year 1  ·  Bioprocess Engineering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Reactors and Applications in Biochemical Engineering</dc:title>
  <dc:subject>PptxGenJS Presentation</dc:subject>
  <dc:creator>PptxGenJS</dc:creator>
  <cp:lastModifiedBy>PptxGenJS</cp:lastModifiedBy>
  <cp:revision>1</cp:revision>
  <dcterms:created xsi:type="dcterms:W3CDTF">2026-04-06T13:12:12Z</dcterms:created>
  <dcterms:modified xsi:type="dcterms:W3CDTF">2026-04-06T13:12:12Z</dcterms:modified>
</cp:coreProperties>
</file>